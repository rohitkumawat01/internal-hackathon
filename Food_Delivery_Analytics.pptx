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1235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743200" cy="2743200"/>
          </a:xfrm>
          <a:prstGeom prst="ellipse">
            <a:avLst/>
          </a:prstGeom>
          <a:solidFill>
            <a:srgbClr val="F96167">
              <a:alpha val="3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DELIVERY ORDER &amp;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42032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PERFORMANCE ANALYSIS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41248" y="331012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21,000+ orders can tell us about demand, delivery, and where things go wrong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41248" y="3977640"/>
            <a:ext cx="29260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41248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PROJECT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44622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[Rohit Kumawat]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41248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•   PANDAS   •   POWER BI   •   DAX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food delivery company sits on historical order records — timestamps, locations, order values, delivery times, customer info, restaurant/category tags, and status flags. None of it answers the questions that actually run the business.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31181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9900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is demand highest, and when does it spike?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68503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355701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some locations getting worse delivery service?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2519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412394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cancellations concentrated?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81888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46908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high volume correlate with slower delivery or more cancellations?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903720" y="1508760"/>
            <a:ext cx="4754880" cy="3566160"/>
          </a:xfrm>
          <a:prstGeom prst="roundRect">
            <a:avLst>
              <a:gd name="adj" fmla="val 3077"/>
            </a:avLst>
          </a:prstGeom>
          <a:solidFill>
            <a:srgbClr val="F7F7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22376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7223760" y="2103120"/>
            <a:ext cx="4114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answers shape staffing, rider allocation, restaurant partnerships, and where attention is spent.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223760" y="2880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223760" y="32004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analysts  •  Delivery managers  •  Marketing teams  •  Restaurant partners  •  Business decision-makers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223760" y="4114800"/>
            <a:ext cx="4114800" cy="0"/>
          </a:xfrm>
          <a:prstGeom prst="line">
            <a:avLst/>
          </a:prstGeom>
          <a:noFill/>
          <a:ln w="12700">
            <a:solidFill>
              <a:srgbClr val="D8DCE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23760" y="4251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223760" y="454456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raw transaction data into a dashboard that explains what's happening — with real numbers behind every claim.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Set Out to 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the analysis needed to actually deliver.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202B5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6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Demand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 orders spike by hour, day, or month? How do weekdays differ from weekends?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56432" y="16916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2F3C7E"/>
          </a:solidFill>
          <a:ln/>
        </p:spPr>
      </p:sp>
      <p:sp>
        <p:nvSpPr>
          <p:cNvPr id="10" name="Shape 8"/>
          <p:cNvSpPr/>
          <p:nvPr/>
        </p:nvSpPr>
        <p:spPr>
          <a:xfrm>
            <a:off x="3685032" y="1965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685032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60" dirty="0"/>
          </a:p>
        </p:txBody>
      </p:sp>
      <p:sp>
        <p:nvSpPr>
          <p:cNvPr id="12" name="Text 10"/>
          <p:cNvSpPr txBox="1"/>
          <p:nvPr/>
        </p:nvSpPr>
        <p:spPr>
          <a:xfrm>
            <a:off x="3685032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Measure Performance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685032" y="33832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orders, revenue, average order value, and how cities and restaurants compare.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64224" y="16916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202B5C"/>
          </a:solidFill>
          <a:ln/>
        </p:spPr>
      </p:sp>
      <p:sp>
        <p:nvSpPr>
          <p:cNvPr id="15" name="Shape 13"/>
          <p:cNvSpPr/>
          <p:nvPr/>
        </p:nvSpPr>
        <p:spPr>
          <a:xfrm>
            <a:off x="6592824" y="1965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92824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60" dirty="0"/>
          </a:p>
        </p:txBody>
      </p:sp>
      <p:sp>
        <p:nvSpPr>
          <p:cNvPr id="17" name="Text 15"/>
          <p:cNvSpPr txBox="1"/>
          <p:nvPr/>
        </p:nvSpPr>
        <p:spPr>
          <a:xfrm>
            <a:off x="6592824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Operations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592824" y="33832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 (KPT) and rider wait — and whether these vary meaningfully by location.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72016" y="1691640"/>
            <a:ext cx="2651760" cy="3566160"/>
          </a:xfrm>
          <a:prstGeom prst="roundRect">
            <a:avLst>
              <a:gd name="adj" fmla="val 3448"/>
            </a:avLst>
          </a:prstGeom>
          <a:solidFill>
            <a:srgbClr val="2F3C7E"/>
          </a:solidFill>
          <a:ln/>
        </p:spPr>
      </p:sp>
      <p:sp>
        <p:nvSpPr>
          <p:cNvPr id="20" name="Shape 18"/>
          <p:cNvSpPr/>
          <p:nvPr/>
        </p:nvSpPr>
        <p:spPr>
          <a:xfrm>
            <a:off x="9500616" y="1965960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500616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60" dirty="0"/>
          </a:p>
        </p:txBody>
      </p:sp>
      <p:sp>
        <p:nvSpPr>
          <p:cNvPr id="22" name="Text 20"/>
          <p:cNvSpPr txBox="1"/>
          <p:nvPr/>
        </p:nvSpPr>
        <p:spPr>
          <a:xfrm>
            <a:off x="9500616" y="27432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Cancellations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9500616" y="338328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allows, find what's driving cancelled or rejected orders.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food-delivery dataset — cleaned and expanded for analysis.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642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21,321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160520" y="15544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160520" y="16642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0" y="1554480"/>
            <a:ext cx="3291840" cy="1417320"/>
          </a:xfrm>
          <a:prstGeom prst="roundRect">
            <a:avLst>
              <a:gd name="adj" fmla="val 6452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0" y="166420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4688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Columns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2461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 DATA CATEGORIES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Info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ID, order date, order status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059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059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ID, complaint tags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4622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4462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ID, restaurant name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64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48646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City, subzone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365760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Financials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36576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 subtotal, total, discounts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405993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05993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KPT, rider wait time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263640" y="446227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863840" y="44622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Ratings, reviews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263640" y="486460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8646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/ rejection reason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the Data Ready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70078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6002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 &amp; structure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/>
        </p:spPr>
      </p:sp>
      <p:sp>
        <p:nvSpPr>
          <p:cNvPr id="9" name="Shape 7"/>
          <p:cNvSpPr/>
          <p:nvPr/>
        </p:nvSpPr>
        <p:spPr>
          <a:xfrm>
            <a:off x="6355080" y="170078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355080" y="17007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1" name="Text 9"/>
          <p:cNvSpPr txBox="1"/>
          <p:nvPr/>
        </p:nvSpPr>
        <p:spPr>
          <a:xfrm>
            <a:off x="6858000" y="160020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&amp; data types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43230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580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23317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33172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6355080" y="243230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55080" y="24323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233172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685800" y="316382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30632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distributions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217920" y="306324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6355080" y="316382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355080" y="3163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306324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validity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685800" y="389534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580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31" name="Text 29"/>
          <p:cNvSpPr txBox="1"/>
          <p:nvPr/>
        </p:nvSpPr>
        <p:spPr>
          <a:xfrm>
            <a:off x="1188720" y="37947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field consistency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217920" y="379476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F7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6355080" y="3895344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55080" y="38953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4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3794760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Delivery-field &amp; cancellation review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202B5C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22960" y="56235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 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analytical conclusion was made before validating the underlying data.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 It Up in Python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677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Standardized column names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28163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Stripped extra spaces, made naming consistent throughout.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459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48056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677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 the dates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8163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raw timestamps into proper datetime format.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4592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0" y="17830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26771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Extracted distance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1635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numeric distance from text into distance_km.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062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202B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28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Counted items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3766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item_count from order details.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42062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202B5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48056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828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date fields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53766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order_date, order_year, order_month, order_day, order_hour.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4206240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202B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0" y="4343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0" y="482803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real discounts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376672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discount components into total_discount.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Features That Actually Help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Day-by-day trends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9" name="Shape 7"/>
          <p:cNvSpPr/>
          <p:nvPr/>
        </p:nvSpPr>
        <p:spPr>
          <a:xfrm>
            <a:off x="4297680" y="160020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628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Year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Year-over-year comparison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1600200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753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Month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2057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demand patterns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633472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2633472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Day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7724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days perform better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297680" y="2633472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2633472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52628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Hour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2628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analysis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046720" y="2633472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25" name="Shape 23"/>
          <p:cNvSpPr/>
          <p:nvPr/>
        </p:nvSpPr>
        <p:spPr>
          <a:xfrm>
            <a:off x="8046720" y="2633472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272491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(KM)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3090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distance patterns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666744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29" name="Shape 27"/>
          <p:cNvSpPr/>
          <p:nvPr/>
        </p:nvSpPr>
        <p:spPr>
          <a:xfrm>
            <a:off x="548640" y="3666744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77240" y="3758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Count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777240" y="4123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size trends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297680" y="3666744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33" name="Shape 31"/>
          <p:cNvSpPr/>
          <p:nvPr/>
        </p:nvSpPr>
        <p:spPr>
          <a:xfrm>
            <a:off x="4297680" y="3666744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526280" y="3758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4526280" y="4123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discounting behaves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046720" y="3666744"/>
            <a:ext cx="3566160" cy="868680"/>
          </a:xfrm>
          <a:prstGeom prst="roundRect">
            <a:avLst>
              <a:gd name="adj" fmla="val 8421"/>
            </a:avLst>
          </a:prstGeom>
          <a:solidFill>
            <a:srgbClr val="F7F7FA"/>
          </a:solidFill>
          <a:ln/>
        </p:spPr>
      </p:sp>
      <p:sp>
        <p:nvSpPr>
          <p:cNvPr id="37" name="Shape 35"/>
          <p:cNvSpPr/>
          <p:nvPr/>
        </p:nvSpPr>
        <p:spPr>
          <a:xfrm>
            <a:off x="8046720" y="3666744"/>
            <a:ext cx="73152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75320" y="3758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Type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8275320" y="412394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— Day Type:  </a:t>
            </a:r>
            <a:r>
              <a:rPr lang="en-US" sz="1200" i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Monday–Friday → Weekday.  Saturday–Sunday → Weekend.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KPIs We Built the Dashboard Around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7F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4592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202B5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9384"/>
            <a:ext cx="3566160" cy="283464"/>
          </a:xfrm>
          <a:prstGeom prst="rect">
            <a:avLst/>
          </a:prstGeom>
          <a:solidFill>
            <a:srgbClr val="202B5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1645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91440" cy="91440"/>
          </a:xfrm>
          <a:prstGeom prst="ellipse">
            <a:avLst/>
          </a:prstGeom>
          <a:solidFill>
            <a:srgbClr val="202B5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23682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3017520"/>
            <a:ext cx="91440" cy="91440"/>
          </a:xfrm>
          <a:prstGeom prst="ellipse">
            <a:avLst/>
          </a:prstGeom>
          <a:solidFill>
            <a:srgbClr val="202B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2898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547872"/>
            <a:ext cx="91440" cy="91440"/>
          </a:xfrm>
          <a:prstGeom prst="ellipse">
            <a:avLst/>
          </a:prstGeom>
          <a:solidFill>
            <a:srgbClr val="202B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7552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Order Value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4078224"/>
            <a:ext cx="91440" cy="91440"/>
          </a:xfrm>
          <a:prstGeom prst="ellipse">
            <a:avLst/>
          </a:prstGeom>
          <a:solidFill>
            <a:srgbClr val="202B5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87552" y="39593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Restaurants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608576"/>
            <a:ext cx="91440" cy="91440"/>
          </a:xfrm>
          <a:prstGeom prst="ellipse">
            <a:avLst/>
          </a:prstGeom>
          <a:solidFill>
            <a:srgbClr val="202B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" y="44897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5138928"/>
            <a:ext cx="91440" cy="91440"/>
          </a:xfrm>
          <a:prstGeom prst="ellipse">
            <a:avLst/>
          </a:prstGeom>
          <a:solidFill>
            <a:srgbClr val="202B5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" y="502005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Rating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9768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7FA"/>
          </a:solidFill>
          <a:ln/>
        </p:spPr>
      </p:sp>
      <p:sp>
        <p:nvSpPr>
          <p:cNvPr id="21" name="Shape 19"/>
          <p:cNvSpPr/>
          <p:nvPr/>
        </p:nvSpPr>
        <p:spPr>
          <a:xfrm>
            <a:off x="4297680" y="164592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0" y="1929384"/>
            <a:ext cx="3566160" cy="2834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297680" y="1645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26280" y="248716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36592" y="23682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Orders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26280" y="301752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36592" y="2898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Success Rate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26280" y="3547872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36592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KPT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26280" y="407822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36592" y="3959352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Rider Wait Time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26280" y="460857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4736592" y="4489704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Distance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046720" y="1645920"/>
            <a:ext cx="3566160" cy="4206240"/>
          </a:xfrm>
          <a:prstGeom prst="roundRect">
            <a:avLst>
              <a:gd name="adj" fmla="val 2564"/>
            </a:avLst>
          </a:prstGeom>
          <a:solidFill>
            <a:srgbClr val="F7F7FA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6720" y="1645920"/>
            <a:ext cx="3566160" cy="566928"/>
          </a:xfrm>
          <a:prstGeom prst="roundRect">
            <a:avLst>
              <a:gd name="adj" fmla="val 16129"/>
            </a:avLst>
          </a:prstGeom>
          <a:solidFill>
            <a:srgbClr val="2F3C7E"/>
          </a:solidFill>
          <a:ln/>
        </p:spPr>
      </p:sp>
      <p:sp>
        <p:nvSpPr>
          <p:cNvPr id="36" name="Shape 34"/>
          <p:cNvSpPr/>
          <p:nvPr/>
        </p:nvSpPr>
        <p:spPr>
          <a:xfrm>
            <a:off x="8046720" y="1929384"/>
            <a:ext cx="3566160" cy="283464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046720" y="1645920"/>
            <a:ext cx="3566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75320" y="2487168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485632" y="2368296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275320" y="3017520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485632" y="2898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Discount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275320" y="3547872"/>
            <a:ext cx="91440" cy="9144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485632" y="34290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per Customer</a:t>
            </a:r>
            <a:endParaRPr lang="en-US" sz="1200" dirty="0"/>
          </a:p>
        </p:txBody>
      </p:sp>
      <p:sp>
        <p:nvSpPr>
          <p:cNvPr id="44" name="Text 4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Power BI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2F3C7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43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Cards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Orders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090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Revenue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9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AOV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9684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Delivery Success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Rating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97680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2F3C7E"/>
          </a:solidFill>
          <a:ln/>
        </p:spPr>
      </p:sp>
      <p:sp>
        <p:nvSpPr>
          <p:cNvPr id="14" name="Shape 12"/>
          <p:cNvSpPr/>
          <p:nvPr/>
        </p:nvSpPr>
        <p:spPr>
          <a:xfrm>
            <a:off x="4526280" y="1920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43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Orders over time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526280" y="3090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Orders by city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26280" y="3529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Orders by hour / day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4526280" y="39684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Restaurant performance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26280" y="44074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Delivery performance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26280" y="4846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Cancellation analysis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1691640"/>
            <a:ext cx="3566160" cy="3794760"/>
          </a:xfrm>
          <a:prstGeom prst="roundRect">
            <a:avLst>
              <a:gd name="adj" fmla="val 2564"/>
            </a:avLst>
          </a:prstGeom>
          <a:solidFill>
            <a:srgbClr val="2F3C7E"/>
          </a:solidFill>
          <a:ln/>
        </p:spPr>
      </p:sp>
      <p:sp>
        <p:nvSpPr>
          <p:cNvPr id="24" name="Shape 22"/>
          <p:cNvSpPr/>
          <p:nvPr/>
        </p:nvSpPr>
        <p:spPr>
          <a:xfrm>
            <a:off x="8275320" y="1920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7532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30" dirty="0"/>
          </a:p>
        </p:txBody>
      </p:sp>
      <p:sp>
        <p:nvSpPr>
          <p:cNvPr id="26" name="Text 24"/>
          <p:cNvSpPr txBox="1"/>
          <p:nvPr/>
        </p:nvSpPr>
        <p:spPr>
          <a:xfrm>
            <a:off x="8915400" y="19202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Filters / Slicers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753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Date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3090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City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35295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Restaurant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9684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Order Status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Demand: When and Where People Order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when-and-where of ordering behaviour.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PERFORMED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97510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8562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hour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31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day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260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072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month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401568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8269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7581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by city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5254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23367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restaurants by volume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155448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202B5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629400" y="1828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29400" y="21488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Peak-period information helps a business plan around real demand instead of guesswork: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629400" y="2880360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62940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36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8803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capacity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629400" y="3383280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62940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36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38328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availability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629400" y="3886200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629400" y="38862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36" dirty="0"/>
          </a:p>
        </p:txBody>
      </p:sp>
      <p:sp>
        <p:nvSpPr>
          <p:cNvPr id="28" name="Text 26"/>
          <p:cNvSpPr txBox="1"/>
          <p:nvPr/>
        </p:nvSpPr>
        <p:spPr>
          <a:xfrm>
            <a:off x="7086600" y="38862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629400" y="4389120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629400" y="43891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36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438912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629400" y="4892040"/>
            <a:ext cx="329184" cy="329184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629400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36" dirty="0"/>
          </a:p>
        </p:txBody>
      </p:sp>
      <p:sp>
        <p:nvSpPr>
          <p:cNvPr id="34" name="Text 32"/>
          <p:cNvSpPr txBox="1"/>
          <p:nvPr/>
        </p:nvSpPr>
        <p:spPr>
          <a:xfrm>
            <a:off x="7086600" y="489204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Promotional campaigns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&amp; Operational Performance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with the operational fields available.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7F7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4592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KPT Duration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834640" y="16459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7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944368" y="164592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 Waiting Time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0" y="16459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7F7F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230368" y="164592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Distance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6459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516368" y="164592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City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92640" y="1645920"/>
            <a:ext cx="2148840" cy="1051560"/>
          </a:xfrm>
          <a:prstGeom prst="roundRect">
            <a:avLst>
              <a:gd name="adj" fmla="val 8696"/>
            </a:avLst>
          </a:prstGeom>
          <a:solidFill>
            <a:srgbClr val="F7F7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02368" y="1645920"/>
            <a:ext cx="192938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vs. Performance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200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OBJECTIVE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4930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where higher order volume may line up with higher operational pressure — </a:t>
            </a:r>
            <a:r>
              <a:rPr lang="en-US" sz="1300" b="1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patterns, not automatic causation.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APPLICATION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8554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22960" y="4736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rider allocation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48554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5080" y="47365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preparation planning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3126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193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Peak-hour operational planning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080760" y="5312664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355080" y="51937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locations needing attention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Cancellations: A More Careful Look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one needed extra caution.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includes a cancellation/rejection reason field and a restaurant compensation field — but order_status doesn't cleanly separate out "cancelled" as its own status.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200400"/>
            <a:ext cx="5394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assuming every non-empty reason means a cancelled order, we examined the actual values and categories present in the field.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60020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4E9"/>
          </a:solidFill>
          <a:ln w="19050">
            <a:solidFill>
              <a:srgbClr val="F9616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29400" y="1920240"/>
            <a:ext cx="502920" cy="50292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629400" y="1920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30" dirty="0"/>
          </a:p>
        </p:txBody>
      </p:sp>
      <p:sp>
        <p:nvSpPr>
          <p:cNvPr id="10" name="Text 8"/>
          <p:cNvSpPr txBox="1"/>
          <p:nvPr/>
        </p:nvSpPr>
        <p:spPr>
          <a:xfrm>
            <a:off x="7315200" y="1920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LIMITATION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629400" y="2606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cancellation rate should not be calculated from non-blank cancellation/rejection records unless the category can be reliably identified as a true cancellation.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29400" y="3931920"/>
            <a:ext cx="4754880" cy="0"/>
          </a:xfrm>
          <a:prstGeom prst="line">
            <a:avLst/>
          </a:prstGeom>
          <a:noFill/>
          <a:ln w="12700">
            <a:solidFill>
              <a:srgbClr val="E8C9A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29400" y="4069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629400" y="437083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Cancellation/rejection data is treated as a diagnostic signal to explore — not a clean rate to report.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Analysis Actually Shows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202B5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hours, high-demand days, monthly patterns, weekday/weekend splits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88920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2F3C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92608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Location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4231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High-volume cities &amp; subzones, delivery performance differences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0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202B5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6636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166360" y="24231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order generators, restaurant-level performance gaps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269480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2F3C7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0664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0" y="24231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 time patterns, rider wait behaviour, distance effects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509760" y="1645920"/>
            <a:ext cx="2103120" cy="3200400"/>
          </a:xfrm>
          <a:prstGeom prst="roundRect">
            <a:avLst>
              <a:gd name="adj" fmla="val 4348"/>
            </a:avLst>
          </a:prstGeom>
          <a:solidFill>
            <a:srgbClr val="202B5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646920" y="18288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Experience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646920" y="2423160"/>
            <a:ext cx="1828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patterns, complaint &amp; review signals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FFF4E9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50749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Important:  </a:t>
            </a:r>
            <a:r>
              <a:rPr lang="en-US" sz="1300" i="1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final numerical insights should be taken directly from the Power BI dashboard after applying the relevant filters.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Business Could Do With This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8755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patterns into action.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92" dirty="0"/>
          </a:p>
        </p:txBody>
      </p:sp>
      <p:sp>
        <p:nvSpPr>
          <p:cNvPr id="6" name="Shape 4"/>
          <p:cNvSpPr/>
          <p:nvPr/>
        </p:nvSpPr>
        <p:spPr>
          <a:xfrm>
            <a:off x="1097280" y="1600200"/>
            <a:ext cx="10515600" cy="530352"/>
          </a:xfrm>
          <a:prstGeom prst="roundRect">
            <a:avLst>
              <a:gd name="adj" fmla="val 10345"/>
            </a:avLst>
          </a:prstGeom>
          <a:solidFill>
            <a:srgbClr val="F7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25880" y="160020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for peak hours — scale capacity when demand is predictably higher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203704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037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92" dirty="0"/>
          </a:p>
        </p:txBody>
      </p:sp>
      <p:sp>
        <p:nvSpPr>
          <p:cNvPr id="10" name="Shape 8"/>
          <p:cNvSpPr/>
          <p:nvPr/>
        </p:nvSpPr>
        <p:spPr>
          <a:xfrm>
            <a:off x="1097280" y="2185416"/>
            <a:ext cx="10515600" cy="530352"/>
          </a:xfrm>
          <a:prstGeom prst="roundRect">
            <a:avLst>
              <a:gd name="adj" fmla="val 10345"/>
            </a:avLst>
          </a:prstGeom>
          <a:solidFill>
            <a:srgbClr val="F7F7F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325880" y="218541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riders smarter — match availability to location-level demand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788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92" dirty="0"/>
          </a:p>
        </p:txBody>
      </p:sp>
      <p:sp>
        <p:nvSpPr>
          <p:cNvPr id="14" name="Shape 12"/>
          <p:cNvSpPr/>
          <p:nvPr/>
        </p:nvSpPr>
        <p:spPr>
          <a:xfrm>
            <a:off x="1097280" y="2770632"/>
            <a:ext cx="10515600" cy="530352"/>
          </a:xfrm>
          <a:prstGeom prst="roundRect">
            <a:avLst>
              <a:gd name="adj" fmla="val 10345"/>
            </a:avLst>
          </a:prstGeom>
          <a:solidFill>
            <a:srgbClr val="F7F7F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325880" y="2770632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restaurants for prep support using KPT and volume patterns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374136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374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92" dirty="0"/>
          </a:p>
        </p:txBody>
      </p:sp>
      <p:sp>
        <p:nvSpPr>
          <p:cNvPr id="18" name="Shape 16"/>
          <p:cNvSpPr/>
          <p:nvPr/>
        </p:nvSpPr>
        <p:spPr>
          <a:xfrm>
            <a:off x="1097280" y="3355848"/>
            <a:ext cx="10515600" cy="530352"/>
          </a:xfrm>
          <a:prstGeom prst="roundRect">
            <a:avLst>
              <a:gd name="adj" fmla="val 10345"/>
            </a:avLst>
          </a:prstGeom>
          <a:solidFill>
            <a:srgbClr val="F7F7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325880" y="3355848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high-volume locations individually, not just by averages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39593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92" dirty="0"/>
          </a:p>
        </p:txBody>
      </p:sp>
      <p:sp>
        <p:nvSpPr>
          <p:cNvPr id="22" name="Shape 20"/>
          <p:cNvSpPr/>
          <p:nvPr/>
        </p:nvSpPr>
        <p:spPr>
          <a:xfrm>
            <a:off x="1097280" y="3941064"/>
            <a:ext cx="10515600" cy="530352"/>
          </a:xfrm>
          <a:prstGeom prst="roundRect">
            <a:avLst>
              <a:gd name="adj" fmla="val 10345"/>
            </a:avLst>
          </a:prstGeom>
          <a:solidFill>
            <a:srgbClr val="F7F7F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1325880" y="3941064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discounts against order value to see real impact on margin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548640" y="4544568"/>
            <a:ext cx="384048" cy="38404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48640" y="4544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92" dirty="0"/>
          </a:p>
        </p:txBody>
      </p:sp>
      <p:sp>
        <p:nvSpPr>
          <p:cNvPr id="26" name="Shape 24"/>
          <p:cNvSpPr/>
          <p:nvPr/>
        </p:nvSpPr>
        <p:spPr>
          <a:xfrm>
            <a:off x="1097280" y="4526280"/>
            <a:ext cx="10515600" cy="530352"/>
          </a:xfrm>
          <a:prstGeom prst="roundRect">
            <a:avLst>
              <a:gd name="adj" fmla="val 10345"/>
            </a:avLst>
          </a:prstGeom>
          <a:solidFill>
            <a:srgbClr val="F7F7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325880" y="4526280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ratings and complaints to catch experience issues early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548640" y="5129784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48640" y="51297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9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92" dirty="0"/>
          </a:p>
        </p:txBody>
      </p:sp>
      <p:sp>
        <p:nvSpPr>
          <p:cNvPr id="30" name="Shape 28"/>
          <p:cNvSpPr/>
          <p:nvPr/>
        </p:nvSpPr>
        <p:spPr>
          <a:xfrm>
            <a:off x="1097280" y="5111496"/>
            <a:ext cx="10515600" cy="530352"/>
          </a:xfrm>
          <a:prstGeom prst="roundRect">
            <a:avLst>
              <a:gd name="adj" fmla="val 10345"/>
            </a:avLst>
          </a:prstGeom>
          <a:solidFill>
            <a:srgbClr val="F7F7F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1325880" y="5111496"/>
            <a:ext cx="10058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up cancellation categorization so a real rate becomes calculable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0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Where This Leaves Us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9728" cy="109728"/>
          </a:xfrm>
          <a:prstGeom prst="ellipse">
            <a:avLst/>
          </a:prstGeom>
          <a:solidFill>
            <a:srgbClr val="6B6B8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373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dataset, one slice of operations — not every reality is captured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109728" cy="109728"/>
          </a:xfrm>
          <a:prstGeom prst="ellipse">
            <a:avLst/>
          </a:prstGeom>
          <a:solidFill>
            <a:srgbClr val="6B6B8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&amp; rejection data share a single combined field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3063240"/>
            <a:ext cx="109728" cy="109728"/>
          </a:xfrm>
          <a:prstGeom prst="ellipse">
            <a:avLst/>
          </a:prstGeom>
          <a:solidFill>
            <a:srgbClr val="6B6B8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292608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reliable cancellation rate without cleaner categorization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657600"/>
            <a:ext cx="109728" cy="109728"/>
          </a:xfrm>
          <a:prstGeom prst="ellipse">
            <a:avLst/>
          </a:prstGeom>
          <a:solidFill>
            <a:srgbClr val="6B6B8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04672" y="35204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found are relationships, not proof of causation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109728" cy="109728"/>
          </a:xfrm>
          <a:prstGeom prst="ellipse">
            <a:avLst/>
          </a:prstGeom>
          <a:solidFill>
            <a:srgbClr val="6B6B80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11480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data shows what happened — not what happens next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309360" y="1508760"/>
            <a:ext cx="5349240" cy="3337560"/>
          </a:xfrm>
          <a:prstGeom prst="roundRect">
            <a:avLst>
              <a:gd name="adj" fmla="val 3288"/>
            </a:avLst>
          </a:prstGeom>
          <a:solidFill>
            <a:srgbClr val="202B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0" y="1673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0116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Raw Data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3774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Cleaning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274320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Feature Engineering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1089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KPI Calculation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47472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Visualization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84048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D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Insights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583680" y="420624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Business Actions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92040"/>
            <a:ext cx="11109960" cy="1417320"/>
          </a:xfrm>
          <a:prstGeom prst="roundRect">
            <a:avLst>
              <a:gd name="adj" fmla="val 6452"/>
            </a:avLst>
          </a:prstGeom>
          <a:solidFill>
            <a:srgbClr val="F9616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22960" y="50292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0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OUTCOME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22960" y="5321808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data-driven decision-support dashboard for understanding and improving food delivery operations.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2B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4114800" cy="4114800"/>
          </a:xfrm>
          <a:prstGeom prst="ellipse">
            <a:avLst/>
          </a:prstGeom>
          <a:solidFill>
            <a:srgbClr val="2F3C7E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3291840" cy="3291840"/>
          </a:xfrm>
          <a:prstGeom prst="ellipse">
            <a:avLst/>
          </a:prstGeom>
          <a:solidFill>
            <a:srgbClr val="F96167">
              <a:alpha val="3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4722876" y="3429000"/>
            <a:ext cx="2743200" cy="0"/>
          </a:xfrm>
          <a:prstGeom prst="line">
            <a:avLst/>
          </a:prstGeom>
          <a:noFill/>
          <a:ln w="25400">
            <a:solidFill>
              <a:srgbClr val="F9E79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048" y="3749039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 •   PANDAS   •   POWER BI   •   DAX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48" y="4332458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Delivery Order &amp; Delivery Performance Analysis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1306</Words>
  <Application>Microsoft Office PowerPoint</Application>
  <PresentationFormat>Widescreen</PresentationFormat>
  <Paragraphs>291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 Kumawat</cp:lastModifiedBy>
  <cp:revision>2</cp:revision>
  <dcterms:created xsi:type="dcterms:W3CDTF">2026-09-25T03:09:08Z</dcterms:created>
  <dcterms:modified xsi:type="dcterms:W3CDTF">2026-09-25T04:09:34Z</dcterms:modified>
</cp:coreProperties>
</file>